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7" autoAdjust="0"/>
    <p:restoredTop sz="94660"/>
  </p:normalViewPr>
  <p:slideViewPr>
    <p:cSldViewPr snapToGrid="0">
      <p:cViewPr varScale="1">
        <p:scale>
          <a:sx n="71" d="100"/>
          <a:sy n="71" d="100"/>
        </p:scale>
        <p:origin x="66" y="6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B743-4E8C-279A-E42B-7E6371F5A4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13B6EC3-E3F2-3500-2A9F-7B94B33C7D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DA47A1E-0AA6-6D76-C662-B558B4AFDBAE}"/>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D6122059-0602-86C3-0DF2-D83D301DD1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7DAC83-C3AA-EA0C-B9D3-9B01A198BE9C}"/>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11067701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D5B1B-DBC4-DBDD-4C4C-80BC9AD485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851C73D-22D1-04D4-7A97-4F0A69AECBF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68C6AA-0F17-0E5A-B823-5C82BC3CFA30}"/>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7B813043-0B06-DED1-C72A-2DB9294603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FD3701-35EE-B5CB-429A-17A5630A92DE}"/>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2156433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CC8F6-1D26-A1A3-7EE8-687A36502F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E8116B-8B2E-E9E0-6733-E44967368B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BE5596-7D65-4582-7912-5A5C4EA3E798}"/>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3A237679-7031-1729-A2D6-38729DB63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9D109A-BB54-9A40-5E3D-9EDC27424607}"/>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2492271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AAF29E-C5BC-BFD2-AC3C-982482F432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9479268-DB79-4015-CC2F-256E3DEA756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D732C0-B0CA-5F6A-578F-475527519C9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DE775CA-8E9E-0DB5-D57A-26068327CE76}"/>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6" name="Footer Placeholder 5">
            <a:extLst>
              <a:ext uri="{FF2B5EF4-FFF2-40B4-BE49-F238E27FC236}">
                <a16:creationId xmlns:a16="http://schemas.microsoft.com/office/drawing/2014/main" id="{86159A06-026C-177F-2185-0AEA8F5902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FC0536F-6F3C-456C-54D9-8A556F2D51CB}"/>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2761854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76578-E0A2-4C8C-E551-D6DE9AB6AC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979BD0-DDAF-C4F3-5626-D1840F96545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D6D2FE-219F-CC7C-5B9B-C8340289A64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17E4FEE-A635-3BC7-085C-0A07B7B573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46376B-EFE6-9AF5-0164-41A8F2DFD5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3B4C29-8C4F-D12D-B8D2-703D281EC7FC}"/>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8" name="Footer Placeholder 7">
            <a:extLst>
              <a:ext uri="{FF2B5EF4-FFF2-40B4-BE49-F238E27FC236}">
                <a16:creationId xmlns:a16="http://schemas.microsoft.com/office/drawing/2014/main" id="{C802718B-5095-A4A5-DBDC-0CA7A51B1E6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257AA8-C22E-0D74-54F6-5ADFEEAC20B7}"/>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84525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AB4E4E-35EB-5C11-77CC-416FE4CDEC0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3A4978-D214-4F81-43F0-288FC1A862A6}"/>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4" name="Footer Placeholder 3">
            <a:extLst>
              <a:ext uri="{FF2B5EF4-FFF2-40B4-BE49-F238E27FC236}">
                <a16:creationId xmlns:a16="http://schemas.microsoft.com/office/drawing/2014/main" id="{0D14E06C-70EA-ADB1-13B7-FF5CD1DC270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8040D6-0C3C-E54D-E210-7C70A785A909}"/>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342204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1B0433B-2532-A362-43E0-15B08847CFB8}"/>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3" name="Footer Placeholder 2">
            <a:extLst>
              <a:ext uri="{FF2B5EF4-FFF2-40B4-BE49-F238E27FC236}">
                <a16:creationId xmlns:a16="http://schemas.microsoft.com/office/drawing/2014/main" id="{CCFE346B-3E78-799B-959F-ABA978CB07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660D7BD-013E-5402-451E-AAA565E5513C}"/>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3032626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B829-11EA-D8EB-EAD0-430337E10F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DE62788-B6F6-D9A2-14A6-2B3C84BB093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B4C4832-6806-BA2D-FC20-F212A37A28E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6C682-0C25-1DB5-CC53-4F09F0171FDD}"/>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6" name="Footer Placeholder 5">
            <a:extLst>
              <a:ext uri="{FF2B5EF4-FFF2-40B4-BE49-F238E27FC236}">
                <a16:creationId xmlns:a16="http://schemas.microsoft.com/office/drawing/2014/main" id="{EA155038-0B7B-C0FD-A002-08A01C29F1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673DF9-42A0-E4DC-04AE-46861C185987}"/>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3445574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8BC3E-3B78-D0AA-B589-126B7AEF71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3F7FA7-9F71-A0C6-272B-44A5BF8C21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ABC34D7-E38B-20B7-A215-FA42BC5FFC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364D9-F6CE-EC51-7B5E-7612A3A1A2AB}"/>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6" name="Footer Placeholder 5">
            <a:extLst>
              <a:ext uri="{FF2B5EF4-FFF2-40B4-BE49-F238E27FC236}">
                <a16:creationId xmlns:a16="http://schemas.microsoft.com/office/drawing/2014/main" id="{2CE6AD3C-34CF-1661-B07A-F28724644F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606AC7E-AC93-F59E-379E-FA1D67763EA2}"/>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3225918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C2791-8049-A30A-E90B-2A4F61274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DCC4BC-6244-DAD5-BD32-505446091A6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365C1C-85EE-33E7-93CA-49253974C70E}"/>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730D53ED-20E3-3E8C-5A5F-96A20189466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E8FB04-6450-691A-5B1E-1843F89CECEF}"/>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42292605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267B84-5516-4E08-F4B0-E2317F1975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31EBB55-60B3-B2D0-F8C1-C96A74A1EF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B53C16-9927-D51B-B1FA-EDC7968EDCEE}"/>
              </a:ext>
            </a:extLst>
          </p:cNvPr>
          <p:cNvSpPr>
            <a:spLocks noGrp="1"/>
          </p:cNvSpPr>
          <p:nvPr>
            <p:ph type="dt" sz="half" idx="10"/>
          </p:nvPr>
        </p:nvSpPr>
        <p:spPr/>
        <p:txBody>
          <a:body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3170A7A7-B1AF-22A4-CA9E-DE702F5769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4F17F-22CB-E459-960D-372EBC108DBA}"/>
              </a:ext>
            </a:extLst>
          </p:cNvPr>
          <p:cNvSpPr>
            <a:spLocks noGrp="1"/>
          </p:cNvSpPr>
          <p:nvPr>
            <p:ph type="sldNum" sz="quarter" idx="12"/>
          </p:nvPr>
        </p:nvSpPr>
        <p:spPr/>
        <p:txBody>
          <a:bodyPr/>
          <a:lstStyle/>
          <a:p>
            <a:fld id="{E948530E-3DEA-4E1D-BAD8-983BD84D20C1}" type="slidenum">
              <a:rPr lang="en-US" smtClean="0"/>
              <a:t>‹#›</a:t>
            </a:fld>
            <a:endParaRPr lang="en-US"/>
          </a:p>
        </p:txBody>
      </p:sp>
    </p:spTree>
    <p:extLst>
      <p:ext uri="{BB962C8B-B14F-4D97-AF65-F5344CB8AC3E}">
        <p14:creationId xmlns:p14="http://schemas.microsoft.com/office/powerpoint/2010/main" val="25905723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A95C54-90EA-6771-7FED-15D702C86C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8034C41-39CF-6723-3901-B173E7AA80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7044293-E6C4-A54F-7A9F-B10361AA8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DE9136-241A-477F-BD23-FE1E73726678}" type="datetimeFigureOut">
              <a:rPr lang="en-US" smtClean="0"/>
              <a:t>9/4/2025</a:t>
            </a:fld>
            <a:endParaRPr lang="en-US"/>
          </a:p>
        </p:txBody>
      </p:sp>
      <p:sp>
        <p:nvSpPr>
          <p:cNvPr id="5" name="Footer Placeholder 4">
            <a:extLst>
              <a:ext uri="{FF2B5EF4-FFF2-40B4-BE49-F238E27FC236}">
                <a16:creationId xmlns:a16="http://schemas.microsoft.com/office/drawing/2014/main" id="{986162B0-C742-2645-B24F-EC4808E4D9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BD17C6A-3134-F3BD-C36B-01E6BB8D930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48530E-3DEA-4E1D-BAD8-983BD84D20C1}" type="slidenum">
              <a:rPr lang="en-US" smtClean="0"/>
              <a:t>‹#›</a:t>
            </a:fld>
            <a:endParaRPr lang="en-US"/>
          </a:p>
        </p:txBody>
      </p:sp>
    </p:spTree>
    <p:extLst>
      <p:ext uri="{BB962C8B-B14F-4D97-AF65-F5344CB8AC3E}">
        <p14:creationId xmlns:p14="http://schemas.microsoft.com/office/powerpoint/2010/main" val="24625258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8" Type="http://schemas.openxmlformats.org/officeDocument/2006/relationships/hyperlink" Target="https://www.pnas.org/doi/10.1073/pnas.1221180110?utm_source=chatgpt.com" TargetMode="External"/><Relationship Id="rId3" Type="http://schemas.openxmlformats.org/officeDocument/2006/relationships/hyperlink" Target="https://vitaldb.net/dataset/?utm_source=chatgpt.com" TargetMode="External"/><Relationship Id="rId7" Type="http://schemas.openxmlformats.org/officeDocument/2006/relationships/hyperlink" Target="https://pmc.ncbi.nlm.nih.gov/articles/PMC4206606/?utm_source=chatgpt.com" TargetMode="External"/><Relationship Id="rId2" Type="http://schemas.openxmlformats.org/officeDocument/2006/relationships/hyperlink" Target="https://www.nature.com/articles/s41597-022-01411-5?utm_source=chatgpt.com" TargetMode="External"/><Relationship Id="rId1" Type="http://schemas.openxmlformats.org/officeDocument/2006/relationships/slideLayout" Target="../slideLayouts/slideLayout6.xml"/><Relationship Id="rId6" Type="http://schemas.openxmlformats.org/officeDocument/2006/relationships/hyperlink" Target="https://direct.mit.edu/books/edited-volume/3841/Dataset-Shift-in-Machine-Learning?utm_source=chatgpt.com" TargetMode="External"/><Relationship Id="rId5" Type="http://schemas.openxmlformats.org/officeDocument/2006/relationships/hyperlink" Target="https://www.physionet.org/content/vitaldb/1.0.0/track_names.csv?utm_source=chatgpt.com" TargetMode="External"/><Relationship Id="rId4" Type="http://schemas.openxmlformats.org/officeDocument/2006/relationships/hyperlink" Target="https://vitaldb.net/docs/?documentId=13qqajnNZzkN7NZ9aXnaQ-47NWy7kx-a6gbrcEsi-gak&amp;utm_source=chatgpt.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1492C-86E7-CB76-CD26-B18731139A8E}"/>
              </a:ext>
            </a:extLst>
          </p:cNvPr>
          <p:cNvSpPr>
            <a:spLocks noGrp="1"/>
          </p:cNvSpPr>
          <p:nvPr>
            <p:ph type="ctrTitle"/>
          </p:nvPr>
        </p:nvSpPr>
        <p:spPr/>
        <p:txBody>
          <a:bodyPr>
            <a:normAutofit fontScale="90000"/>
          </a:bodyPr>
          <a:lstStyle/>
          <a:p>
            <a:r>
              <a:rPr lang="en-US" dirty="0"/>
              <a:t>BIS Regression </a:t>
            </a:r>
            <a:br>
              <a:rPr lang="en-US" dirty="0"/>
            </a:br>
            <a:r>
              <a:rPr lang="en-US" dirty="0"/>
              <a:t>and</a:t>
            </a:r>
            <a:br>
              <a:rPr lang="en-US" dirty="0"/>
            </a:br>
            <a:r>
              <a:rPr lang="en-US" dirty="0"/>
              <a:t> Classification</a:t>
            </a:r>
          </a:p>
        </p:txBody>
      </p:sp>
      <p:sp>
        <p:nvSpPr>
          <p:cNvPr id="3" name="Subtitle 2">
            <a:extLst>
              <a:ext uri="{FF2B5EF4-FFF2-40B4-BE49-F238E27FC236}">
                <a16:creationId xmlns:a16="http://schemas.microsoft.com/office/drawing/2014/main" id="{D59BBC08-5558-D60E-6B5E-26A6F1196A7C}"/>
              </a:ext>
            </a:extLst>
          </p:cNvPr>
          <p:cNvSpPr>
            <a:spLocks noGrp="1"/>
          </p:cNvSpPr>
          <p:nvPr>
            <p:ph type="subTitle" idx="1"/>
          </p:nvPr>
        </p:nvSpPr>
        <p:spPr/>
        <p:txBody>
          <a:bodyPr/>
          <a:lstStyle/>
          <a:p>
            <a:r>
              <a:rPr lang="en-US" dirty="0"/>
              <a:t>With</a:t>
            </a:r>
          </a:p>
          <a:p>
            <a:r>
              <a:rPr lang="en-US" dirty="0" err="1"/>
              <a:t>MiUNet</a:t>
            </a:r>
            <a:r>
              <a:rPr lang="en-US" dirty="0"/>
              <a:t>-Hybrid Architecture</a:t>
            </a:r>
          </a:p>
        </p:txBody>
      </p:sp>
    </p:spTree>
    <p:extLst>
      <p:ext uri="{BB962C8B-B14F-4D97-AF65-F5344CB8AC3E}">
        <p14:creationId xmlns:p14="http://schemas.microsoft.com/office/powerpoint/2010/main" val="40280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Experiment Setup</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4"/>
            <a:ext cx="11335871" cy="532503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400" dirty="0">
                <a:latin typeface="Consolas" panose="020B0609020204030204" pitchFamily="49" charset="0"/>
              </a:rPr>
              <a:t>We constructed three cohorts from </a:t>
            </a:r>
            <a:r>
              <a:rPr lang="en-US" sz="1400" dirty="0" err="1">
                <a:latin typeface="Consolas" panose="020B0609020204030204" pitchFamily="49" charset="0"/>
              </a:rPr>
              <a:t>VitalDB</a:t>
            </a:r>
            <a:r>
              <a:rPr lang="en-US" sz="1400" dirty="0">
                <a:latin typeface="Consolas" panose="020B0609020204030204" pitchFamily="49" charset="0"/>
              </a:rPr>
              <a:t> under a common eligibility: adults (age ≥ 18) with concurrent BIS/BIS (index) and BIS/EEG1_WAV (EEG) recordings. Surgical time windows were restricted to </a:t>
            </a:r>
            <a:r>
              <a:rPr lang="en-US" sz="1400" dirty="0" err="1">
                <a:latin typeface="Consolas" panose="020B0609020204030204" pitchFamily="49" charset="0"/>
              </a:rPr>
              <a:t>opstart</a:t>
            </a:r>
            <a:r>
              <a:rPr lang="en-US" sz="1400" dirty="0">
                <a:latin typeface="Consolas" panose="020B0609020204030204" pitchFamily="49" charset="0"/>
              </a:rPr>
              <a:t>–</a:t>
            </a:r>
            <a:r>
              <a:rPr lang="en-US" sz="1400" dirty="0" err="1">
                <a:latin typeface="Consolas" panose="020B0609020204030204" pitchFamily="49" charset="0"/>
              </a:rPr>
              <a:t>opend</a:t>
            </a:r>
            <a:r>
              <a:rPr lang="en-US" sz="1400" dirty="0">
                <a:latin typeface="Consolas" panose="020B0609020204030204" pitchFamily="49" charset="0"/>
              </a:rPr>
              <a:t>. EEG was bandpass-filtered at 0.5–50 Hz (4th-order Butterworth, zero-phase) and segmented into 10 s windows with 2 s stride; per-window z-scoring was applied. The label was the BIS value at the end of each window (estimation). Modality tags were inferred from track presence as proxies: cases with Orchestra/PPF20_CE or Orchestra/RFTN50_CE were tagged “TCI,” cases with volatile expiration tracks (e.g., Primus/EXP_DES) were tagged “volatile,” and cases with both or neither were tagged “mixed” or “unknown.” We defined: (A) modality-agnostic (all eligible), (B) volatile-only (volatile present, TCI absent), and (C) TCI-only (TCI present, volatile absent). Track presence was used only for </a:t>
            </a:r>
            <a:r>
              <a:rPr lang="en-US" sz="1400" dirty="0" err="1">
                <a:latin typeface="Consolas" panose="020B0609020204030204" pitchFamily="49" charset="0"/>
              </a:rPr>
              <a:t>cohorting</a:t>
            </a:r>
            <a:r>
              <a:rPr lang="en-US" sz="1400" dirty="0">
                <a:latin typeface="Consolas" panose="020B0609020204030204" pitchFamily="49" charset="0"/>
              </a:rPr>
              <a:t>/stratification, not as model inputs. We performed patient-wise cross-validation within each cohort and assessed cross-cohort generalization (</a:t>
            </a:r>
            <a:r>
              <a:rPr lang="en-US" sz="1400" dirty="0" err="1">
                <a:latin typeface="Consolas" panose="020B0609020204030204" pitchFamily="49" charset="0"/>
              </a:rPr>
              <a:t>Train-A→Eval-B</a:t>
            </a:r>
            <a:r>
              <a:rPr lang="en-US" sz="1400" dirty="0">
                <a:latin typeface="Consolas" panose="020B0609020204030204" pitchFamily="49" charset="0"/>
              </a:rPr>
              <a:t>/C; </a:t>
            </a:r>
            <a:r>
              <a:rPr lang="en-US" sz="1400" dirty="0" err="1">
                <a:latin typeface="Consolas" panose="020B0609020204030204" pitchFamily="49" charset="0"/>
              </a:rPr>
              <a:t>Train-B→Eval-C</a:t>
            </a:r>
            <a:r>
              <a:rPr lang="en-US" sz="1400" dirty="0">
                <a:latin typeface="Consolas" panose="020B0609020204030204" pitchFamily="49" charset="0"/>
              </a:rPr>
              <a:t>; </a:t>
            </a:r>
            <a:r>
              <a:rPr lang="en-US" sz="1400" dirty="0" err="1">
                <a:latin typeface="Consolas" panose="020B0609020204030204" pitchFamily="49" charset="0"/>
              </a:rPr>
              <a:t>Train-C→Eval-B</a:t>
            </a:r>
            <a:r>
              <a:rPr lang="en-US" sz="1400" dirty="0">
                <a:latin typeface="Consolas" panose="020B0609020204030204" pitchFamily="49" charset="0"/>
              </a:rPr>
              <a:t>). Performance was summarized by MAE, RMSE, and Concordance Correlation Coefficient, with additional stratified analyses by modality for cohort A.</a:t>
            </a:r>
          </a:p>
        </p:txBody>
      </p:sp>
    </p:spTree>
    <p:extLst>
      <p:ext uri="{BB962C8B-B14F-4D97-AF65-F5344CB8AC3E}">
        <p14:creationId xmlns:p14="http://schemas.microsoft.com/office/powerpoint/2010/main" val="3767565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Data Set Preparing</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4"/>
            <a:ext cx="11335871" cy="404756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Dataset A : Modality-agnostic (general model)  [1000 Subjects]</a:t>
            </a:r>
          </a:p>
          <a:p>
            <a:pPr marL="0" indent="0">
              <a:buNone/>
            </a:pPr>
            <a:r>
              <a:rPr lang="en-US" sz="1400" dirty="0">
                <a:latin typeface="Consolas" panose="020B0609020204030204" pitchFamily="49" charset="0"/>
              </a:rPr>
              <a:t>all eligible adult cases with BIS + EEG (most realistic).</a:t>
            </a: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Dataset B : Volatile-only (vaporizer workflows) [800 Subjects]</a:t>
            </a:r>
          </a:p>
          <a:p>
            <a:pPr marL="0" indent="0">
              <a:buNone/>
            </a:pPr>
            <a:r>
              <a:rPr lang="en-US" sz="1400" dirty="0">
                <a:latin typeface="Consolas" panose="020B0609020204030204" pitchFamily="49" charset="0"/>
              </a:rPr>
              <a:t>cases with volatile agent tracks and without TCI tracks.</a:t>
            </a:r>
          </a:p>
          <a:p>
            <a:pPr marL="0" indent="0">
              <a:buNone/>
            </a:pPr>
            <a:endParaRPr lang="en-US" sz="1400" dirty="0">
              <a:latin typeface="Consolas" panose="020B0609020204030204" pitchFamily="49" charset="0"/>
            </a:endParaRPr>
          </a:p>
          <a:p>
            <a:pPr marL="0" indent="0">
              <a:buNone/>
            </a:pPr>
            <a:endParaRPr lang="en-US" sz="1400" dirty="0">
              <a:latin typeface="Consolas" panose="020B0609020204030204" pitchFamily="49" charset="0"/>
            </a:endParaRPr>
          </a:p>
          <a:p>
            <a:pPr marL="0" indent="0">
              <a:buNone/>
            </a:pPr>
            <a:r>
              <a:rPr lang="en-US" sz="1400" dirty="0">
                <a:latin typeface="Consolas" panose="020B0609020204030204" pitchFamily="49" charset="0"/>
              </a:rPr>
              <a:t>Dataset C : TCI-only (propofol/remifentanil Ce-guided) [1000 Subjects]</a:t>
            </a:r>
          </a:p>
          <a:p>
            <a:pPr marL="0" indent="0">
              <a:buNone/>
            </a:pPr>
            <a:r>
              <a:rPr lang="en-US" sz="1400" dirty="0">
                <a:latin typeface="Consolas" panose="020B0609020204030204" pitchFamily="49" charset="0"/>
              </a:rPr>
              <a:t>cases with TCI (propofol/remifentanil) tracks and without volatile tracks.</a:t>
            </a:r>
          </a:p>
        </p:txBody>
      </p:sp>
    </p:spTree>
    <p:extLst>
      <p:ext uri="{BB962C8B-B14F-4D97-AF65-F5344CB8AC3E}">
        <p14:creationId xmlns:p14="http://schemas.microsoft.com/office/powerpoint/2010/main" val="3392508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Data Set Preparing: A</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5"/>
            <a:ext cx="11335871" cy="3361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1400" dirty="0">
                <a:latin typeface="Consolas" panose="020B0609020204030204" pitchFamily="49" charset="0"/>
              </a:rPr>
              <a:t>Approach A — Modality-agnostic (general model).This cohort includes all adult cases that have the required BIS index and EEG waveform, regardless of how anesthesia was delivered. In practice, that means you keep volatile, TCI, mixed, and unknown-modality cases together and train a single model without feeding any drug/device tracks as inputs. The value of A is realism and scale: it mirrors the heterogeneity of real operating rooms and usually yields the largest sample size, which stabilizes training and improves statistical power. The trade-off is that the data are more diverse—EEG dynamics, EMG contamination, surgical phases, and recording habits vary across devices and sites—so optimization can be slightly harder and performance may differ across subgroups. Interpreting results from A works best when you also examine slices by modality (volatile vs TCI) to reveal domain gaps. If the goal is a broadly deployable </a:t>
            </a:r>
            <a:r>
              <a:rPr lang="en-US" sz="1400" dirty="0" err="1">
                <a:latin typeface="Consolas" panose="020B0609020204030204" pitchFamily="49" charset="0"/>
              </a:rPr>
              <a:t>DoA</a:t>
            </a:r>
            <a:r>
              <a:rPr lang="en-US" sz="1400" dirty="0">
                <a:latin typeface="Consolas" panose="020B0609020204030204" pitchFamily="49" charset="0"/>
              </a:rPr>
              <a:t> model, A is the natural baseline; you can fairly claim “general-purpose” performance while transparently reporting how it behaves across modalities.</a:t>
            </a:r>
          </a:p>
        </p:txBody>
      </p:sp>
    </p:spTree>
    <p:extLst>
      <p:ext uri="{BB962C8B-B14F-4D97-AF65-F5344CB8AC3E}">
        <p14:creationId xmlns:p14="http://schemas.microsoft.com/office/powerpoint/2010/main" val="53577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Data Set Preparing: B</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5"/>
            <a:ext cx="11335871" cy="3361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1400" dirty="0">
                <a:latin typeface="Consolas" panose="020B0609020204030204" pitchFamily="49" charset="0"/>
              </a:rPr>
              <a:t>Approach B — Volatile-only (vaporizer workflows).This cohort keeps only cases where volatile agent tracks are present and removes any case with TCI tracks (and typically excludes mixed cases) so that the remaining EEG reflects inhalational anesthesia workflows. The benefit is a more homogeneous cohort: volatile agents often produce relatively stereotyped EEG patterns during maintenance (strong alpha with dose-dependent slowing), which can make learning easier and sometimes lift in-domain metrics. However, B sacrifices external validity and sample size: it won’t represent TCI rooms, and it can inherit site/device biases because inclusion depends on whether volatile tracks were logged. Unknown-modality cases are usually excluded to keep the cohort “pure,” but that further reduces data. Models trained under B typically perform well within volatile cases yet degrade when evaluated on TCI cohorts, quantifying a domain shift. The right way to present B is as a focused model for volatile settings, with clear scope and limitations.</a:t>
            </a:r>
          </a:p>
        </p:txBody>
      </p:sp>
    </p:spTree>
    <p:extLst>
      <p:ext uri="{BB962C8B-B14F-4D97-AF65-F5344CB8AC3E}">
        <p14:creationId xmlns:p14="http://schemas.microsoft.com/office/powerpoint/2010/main" val="27348102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Data Set Preparing: C</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5"/>
            <a:ext cx="11335871" cy="3361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r>
              <a:rPr lang="en-US" sz="1400" dirty="0">
                <a:latin typeface="Consolas" panose="020B0609020204030204" pitchFamily="49" charset="0"/>
              </a:rPr>
              <a:t>Approach C — TCI-only (propofol/remifentanil Ce-guided).This cohort retains cases with TCI effect-site tracks and removes volatile and mixed cases, isolating propofol/remifentanil workflows. Like B, C creates a homogeneous learning problem, but it is often the smallest cohort because TCI logging is less ubiquitous than basic monitors. EEG under propofol-dominant TCI can differ meaningfully from volatile anesthesia (stronger frontal alpha with characteristic beta/slow dynamics and different EMG profiles), so a C-trained model can capture TCI-specific structure and calibrate well in those rooms. The cost is narrow applicability: it usually generalizes poorly to volatile cases, and results may reflect device or site practices tied to Orchestra usage. When reporting C, position it as a TCI-focused model; emphasize in-domain performance, acknowledge reduced sample size (and higher variance across folds), and use cross-cohort tests to show how much performance drops when the model is applied outside TCI environments.</a:t>
            </a:r>
          </a:p>
        </p:txBody>
      </p:sp>
    </p:spTree>
    <p:extLst>
      <p:ext uri="{BB962C8B-B14F-4D97-AF65-F5344CB8AC3E}">
        <p14:creationId xmlns:p14="http://schemas.microsoft.com/office/powerpoint/2010/main" val="31782340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Cohort: What and Why Reference</a:t>
            </a:r>
          </a:p>
        </p:txBody>
      </p:sp>
      <p:graphicFrame>
        <p:nvGraphicFramePr>
          <p:cNvPr id="5" name="Table 4">
            <a:extLst>
              <a:ext uri="{FF2B5EF4-FFF2-40B4-BE49-F238E27FC236}">
                <a16:creationId xmlns:a16="http://schemas.microsoft.com/office/drawing/2014/main" id="{970F4D7A-EED2-A280-42A6-8B372FE617C2}"/>
              </a:ext>
            </a:extLst>
          </p:cNvPr>
          <p:cNvGraphicFramePr>
            <a:graphicFrameLocks noGrp="1"/>
          </p:cNvGraphicFramePr>
          <p:nvPr>
            <p:extLst>
              <p:ext uri="{D42A27DB-BD31-4B8C-83A1-F6EECF244321}">
                <p14:modId xmlns:p14="http://schemas.microsoft.com/office/powerpoint/2010/main" val="1839150105"/>
              </p:ext>
            </p:extLst>
          </p:nvPr>
        </p:nvGraphicFramePr>
        <p:xfrm>
          <a:off x="349623" y="1008529"/>
          <a:ext cx="11497236" cy="5540190"/>
        </p:xfrm>
        <a:graphic>
          <a:graphicData uri="http://schemas.openxmlformats.org/drawingml/2006/table">
            <a:tbl>
              <a:tblPr/>
              <a:tblGrid>
                <a:gridCol w="2874309">
                  <a:extLst>
                    <a:ext uri="{9D8B030D-6E8A-4147-A177-3AD203B41FA5}">
                      <a16:colId xmlns:a16="http://schemas.microsoft.com/office/drawing/2014/main" val="4175325040"/>
                    </a:ext>
                  </a:extLst>
                </a:gridCol>
                <a:gridCol w="2874309">
                  <a:extLst>
                    <a:ext uri="{9D8B030D-6E8A-4147-A177-3AD203B41FA5}">
                      <a16:colId xmlns:a16="http://schemas.microsoft.com/office/drawing/2014/main" val="2797391149"/>
                    </a:ext>
                  </a:extLst>
                </a:gridCol>
                <a:gridCol w="2874309">
                  <a:extLst>
                    <a:ext uri="{9D8B030D-6E8A-4147-A177-3AD203B41FA5}">
                      <a16:colId xmlns:a16="http://schemas.microsoft.com/office/drawing/2014/main" val="3827979366"/>
                    </a:ext>
                  </a:extLst>
                </a:gridCol>
                <a:gridCol w="2874309">
                  <a:extLst>
                    <a:ext uri="{9D8B030D-6E8A-4147-A177-3AD203B41FA5}">
                      <a16:colId xmlns:a16="http://schemas.microsoft.com/office/drawing/2014/main" val="2349432952"/>
                    </a:ext>
                  </a:extLst>
                </a:gridCol>
              </a:tblGrid>
              <a:tr h="426168">
                <a:tc>
                  <a:txBody>
                    <a:bodyPr/>
                    <a:lstStyle/>
                    <a:p>
                      <a:r>
                        <a:rPr lang="en-US" sz="1200" dirty="0"/>
                        <a:t>Approach</a:t>
                      </a:r>
                    </a:p>
                  </a:txBody>
                  <a:tcPr marL="47817" marR="47817" marT="23908" marB="23908" anchor="ctr">
                    <a:lnL>
                      <a:noFill/>
                    </a:lnL>
                    <a:lnR>
                      <a:noFill/>
                    </a:lnR>
                    <a:lnT>
                      <a:noFill/>
                    </a:lnT>
                    <a:lnB>
                      <a:noFill/>
                    </a:lnB>
                    <a:noFill/>
                  </a:tcPr>
                </a:tc>
                <a:tc>
                  <a:txBody>
                    <a:bodyPr/>
                    <a:lstStyle/>
                    <a:p>
                      <a:r>
                        <a:rPr lang="en-US" sz="1200"/>
                        <a:t>What it includes (definition)</a:t>
                      </a:r>
                    </a:p>
                  </a:txBody>
                  <a:tcPr marL="47817" marR="47817" marT="23908" marB="23908" anchor="ctr">
                    <a:lnL>
                      <a:noFill/>
                    </a:lnL>
                    <a:lnR>
                      <a:noFill/>
                    </a:lnR>
                    <a:lnT>
                      <a:noFill/>
                    </a:lnT>
                    <a:lnB>
                      <a:noFill/>
                    </a:lnB>
                    <a:noFill/>
                  </a:tcPr>
                </a:tc>
                <a:tc>
                  <a:txBody>
                    <a:bodyPr/>
                    <a:lstStyle/>
                    <a:p>
                      <a:r>
                        <a:rPr lang="en-US" sz="1200"/>
                        <a:t>Why use this cohort</a:t>
                      </a:r>
                    </a:p>
                  </a:txBody>
                  <a:tcPr marL="47817" marR="47817" marT="23908" marB="23908" anchor="ctr">
                    <a:lnL>
                      <a:noFill/>
                    </a:lnL>
                    <a:lnR>
                      <a:noFill/>
                    </a:lnR>
                    <a:lnT>
                      <a:noFill/>
                    </a:lnT>
                    <a:lnB>
                      <a:noFill/>
                    </a:lnB>
                    <a:noFill/>
                  </a:tcPr>
                </a:tc>
                <a:tc>
                  <a:txBody>
                    <a:bodyPr/>
                    <a:lstStyle/>
                    <a:p>
                      <a:r>
                        <a:rPr lang="en-US" sz="1200"/>
                        <a:t>Key references</a:t>
                      </a:r>
                    </a:p>
                  </a:txBody>
                  <a:tcPr marL="47817" marR="47817" marT="23908" marB="23908" anchor="ctr">
                    <a:lnL>
                      <a:noFill/>
                    </a:lnL>
                    <a:lnR>
                      <a:noFill/>
                    </a:lnR>
                    <a:lnT>
                      <a:noFill/>
                    </a:lnT>
                    <a:lnB>
                      <a:noFill/>
                    </a:lnB>
                    <a:noFill/>
                  </a:tcPr>
                </a:tc>
                <a:extLst>
                  <a:ext uri="{0D108BD9-81ED-4DB2-BD59-A6C34878D82A}">
                    <a16:rowId xmlns:a16="http://schemas.microsoft.com/office/drawing/2014/main" val="1427836801"/>
                  </a:ext>
                </a:extLst>
              </a:tr>
              <a:tr h="2252605">
                <a:tc>
                  <a:txBody>
                    <a:bodyPr/>
                    <a:lstStyle/>
                    <a:p>
                      <a:r>
                        <a:rPr lang="en-US" sz="1200" b="1" dirty="0"/>
                        <a:t>A — Modality-agnostic</a:t>
                      </a:r>
                      <a:endParaRPr lang="en-US" sz="1200" dirty="0"/>
                    </a:p>
                  </a:txBody>
                  <a:tcPr marL="47817" marR="47817" marT="23908" marB="23908" anchor="ctr">
                    <a:lnL>
                      <a:noFill/>
                    </a:lnL>
                    <a:lnR>
                      <a:noFill/>
                    </a:lnR>
                    <a:lnT>
                      <a:noFill/>
                    </a:lnT>
                    <a:lnB>
                      <a:noFill/>
                    </a:lnB>
                    <a:noFill/>
                  </a:tcPr>
                </a:tc>
                <a:tc>
                  <a:txBody>
                    <a:bodyPr/>
                    <a:lstStyle/>
                    <a:p>
                      <a:r>
                        <a:rPr lang="en-US" sz="1200" dirty="0"/>
                        <a:t>All adult cases with </a:t>
                      </a:r>
                      <a:r>
                        <a:rPr lang="en-US" sz="1200" b="1" dirty="0"/>
                        <a:t>BIS/BIS</a:t>
                      </a:r>
                      <a:r>
                        <a:rPr lang="en-US" sz="1200" dirty="0"/>
                        <a:t> and </a:t>
                      </a:r>
                      <a:r>
                        <a:rPr lang="en-US" sz="1200" b="1" dirty="0"/>
                        <a:t>BIS/EEG1_WAV</a:t>
                      </a:r>
                      <a:r>
                        <a:rPr lang="en-US" sz="1200" dirty="0"/>
                        <a:t>, regardless of anesthetic modality (volatile, TCI, mixed, unknown).</a:t>
                      </a:r>
                    </a:p>
                  </a:txBody>
                  <a:tcPr marL="47817" marR="47817" marT="23908" marB="23908" anchor="ctr">
                    <a:lnL>
                      <a:noFill/>
                    </a:lnL>
                    <a:lnR>
                      <a:noFill/>
                    </a:lnR>
                    <a:lnT>
                      <a:noFill/>
                    </a:lnT>
                    <a:lnB>
                      <a:noFill/>
                    </a:lnB>
                    <a:noFill/>
                  </a:tcPr>
                </a:tc>
                <a:tc>
                  <a:txBody>
                    <a:bodyPr/>
                    <a:lstStyle/>
                    <a:p>
                      <a:r>
                        <a:rPr lang="en-US" sz="1200" dirty="0"/>
                        <a:t>Largest, most realistic cohort; mirrors real OR heterogeneity. Use it to build a general </a:t>
                      </a:r>
                      <a:r>
                        <a:rPr lang="en-US" sz="1200" dirty="0" err="1"/>
                        <a:t>DoA</a:t>
                      </a:r>
                      <a:r>
                        <a:rPr lang="en-US" sz="1200" dirty="0"/>
                        <a:t> model and then report performance stratified by modality.</a:t>
                      </a:r>
                    </a:p>
                  </a:txBody>
                  <a:tcPr marL="47817" marR="47817" marT="23908" marB="23908" anchor="ctr">
                    <a:lnL>
                      <a:noFill/>
                    </a:lnL>
                    <a:lnR>
                      <a:noFill/>
                    </a:lnR>
                    <a:lnT>
                      <a:noFill/>
                    </a:lnT>
                    <a:lnB>
                      <a:noFill/>
                    </a:lnB>
                    <a:noFill/>
                  </a:tcPr>
                </a:tc>
                <a:tc>
                  <a:txBody>
                    <a:bodyPr/>
                    <a:lstStyle/>
                    <a:p>
                      <a:r>
                        <a:rPr lang="en-US" sz="1200" dirty="0" err="1"/>
                        <a:t>VitalDB</a:t>
                      </a:r>
                      <a:r>
                        <a:rPr lang="en-US" sz="1200" dirty="0"/>
                        <a:t> dataset description and scale (6,388 cases). (</a:t>
                      </a:r>
                      <a:r>
                        <a:rPr lang="en-US" sz="1200" dirty="0">
                          <a:hlinkClick r:id="rId2" tooltip="VitalDB, a high-fidelity multi-parameter vital signs database ..."/>
                        </a:rPr>
                        <a:t>Nature</a:t>
                      </a:r>
                      <a:r>
                        <a:rPr lang="en-US" sz="1200" dirty="0"/>
                        <a:t>, </a:t>
                      </a:r>
                      <a:r>
                        <a:rPr lang="en-US" sz="1200" dirty="0">
                          <a:hlinkClick r:id="rId3" tooltip="Dataset : VitalDB"/>
                        </a:rPr>
                        <a:t>vitaldb.net</a:t>
                      </a:r>
                      <a:r>
                        <a:rPr lang="en-US" sz="1200" dirty="0"/>
                        <a:t>) • Official track list showing </a:t>
                      </a:r>
                      <a:r>
                        <a:rPr lang="en-US" sz="1200" b="1" dirty="0"/>
                        <a:t>BIS/BIS</a:t>
                      </a:r>
                      <a:r>
                        <a:rPr lang="en-US" sz="1200" dirty="0"/>
                        <a:t> and </a:t>
                      </a:r>
                      <a:r>
                        <a:rPr lang="en-US" sz="1200" b="1" dirty="0"/>
                        <a:t>BIS/EEG1_WAV</a:t>
                      </a:r>
                      <a:r>
                        <a:rPr lang="en-US" sz="1200" dirty="0"/>
                        <a:t>. (</a:t>
                      </a:r>
                      <a:r>
                        <a:rPr lang="en-US" sz="1200" dirty="0">
                          <a:hlinkClick r:id="rId4" tooltip="VitalDB Overview - Docs"/>
                        </a:rPr>
                        <a:t>vitaldb.net</a:t>
                      </a:r>
                      <a:r>
                        <a:rPr lang="en-US" sz="1200" dirty="0"/>
                        <a:t>, </a:t>
                      </a:r>
                      <a:r>
                        <a:rPr lang="en-US" sz="1200" dirty="0">
                          <a:hlinkClick r:id="rId5" tooltip="VitalDB, a high-fidelity multi-parameter vital signs database ..."/>
                        </a:rPr>
                        <a:t>PhysioNet</a:t>
                      </a:r>
                      <a:r>
                        <a:rPr lang="en-US" sz="1200" dirty="0"/>
                        <a:t>) • Domain/dataset-shift background—why cross-cohort tests matter. (</a:t>
                      </a:r>
                      <a:r>
                        <a:rPr lang="en-US" sz="1200" dirty="0">
                          <a:hlinkClick r:id="rId6" tooltip="Dataset Shift in Machine Learning | Books Gateway"/>
                        </a:rPr>
                        <a:t>MIT Press Direct</a:t>
                      </a:r>
                      <a:r>
                        <a:rPr lang="en-US" sz="1200" dirty="0"/>
                        <a:t>)</a:t>
                      </a:r>
                    </a:p>
                  </a:txBody>
                  <a:tcPr marL="47817" marR="47817" marT="23908" marB="23908" anchor="ctr">
                    <a:lnL>
                      <a:noFill/>
                    </a:lnL>
                    <a:lnR>
                      <a:noFill/>
                    </a:lnR>
                    <a:lnT>
                      <a:noFill/>
                    </a:lnT>
                    <a:lnB>
                      <a:noFill/>
                    </a:lnB>
                    <a:noFill/>
                  </a:tcPr>
                </a:tc>
                <a:extLst>
                  <a:ext uri="{0D108BD9-81ED-4DB2-BD59-A6C34878D82A}">
                    <a16:rowId xmlns:a16="http://schemas.microsoft.com/office/drawing/2014/main" val="237051405"/>
                  </a:ext>
                </a:extLst>
              </a:tr>
              <a:tr h="1339387">
                <a:tc>
                  <a:txBody>
                    <a:bodyPr/>
                    <a:lstStyle/>
                    <a:p>
                      <a:r>
                        <a:rPr lang="en-US" sz="1200" b="1"/>
                        <a:t>B — Volatile-only</a:t>
                      </a:r>
                      <a:endParaRPr lang="en-US" sz="1200"/>
                    </a:p>
                  </a:txBody>
                  <a:tcPr marL="47817" marR="47817" marT="23908" marB="23908" anchor="ctr">
                    <a:lnL>
                      <a:noFill/>
                    </a:lnL>
                    <a:lnR>
                      <a:noFill/>
                    </a:lnR>
                    <a:lnT>
                      <a:noFill/>
                    </a:lnT>
                    <a:lnB>
                      <a:noFill/>
                    </a:lnB>
                    <a:noFill/>
                  </a:tcPr>
                </a:tc>
                <a:tc>
                  <a:txBody>
                    <a:bodyPr/>
                    <a:lstStyle/>
                    <a:p>
                      <a:r>
                        <a:rPr lang="en-US" sz="1200"/>
                        <a:t>Adults with volatile agent tracks (e.g., </a:t>
                      </a:r>
                      <a:r>
                        <a:rPr lang="en-US" sz="1200" b="1"/>
                        <a:t>Primus/EXP_DES</a:t>
                      </a:r>
                      <a:r>
                        <a:rPr lang="en-US" sz="1200"/>
                        <a:t>; extend to EXP_SEV/ENF if present) </a:t>
                      </a:r>
                      <a:r>
                        <a:rPr lang="en-US" sz="1200" b="1"/>
                        <a:t>and no TCI tracks</a:t>
                      </a:r>
                      <a:r>
                        <a:rPr lang="en-US" sz="1200"/>
                        <a:t>; exclude mixed.</a:t>
                      </a:r>
                    </a:p>
                  </a:txBody>
                  <a:tcPr marL="47817" marR="47817" marT="23908" marB="23908" anchor="ctr">
                    <a:lnL>
                      <a:noFill/>
                    </a:lnL>
                    <a:lnR>
                      <a:noFill/>
                    </a:lnR>
                    <a:lnT>
                      <a:noFill/>
                    </a:lnT>
                    <a:lnB>
                      <a:noFill/>
                    </a:lnB>
                    <a:noFill/>
                  </a:tcPr>
                </a:tc>
                <a:tc>
                  <a:txBody>
                    <a:bodyPr/>
                    <a:lstStyle/>
                    <a:p>
                      <a:r>
                        <a:rPr lang="en-US" sz="1200" dirty="0"/>
                        <a:t>More homogeneous EEG under inhalational agents; simpler learning problem; report as a volatile-room model (limited external validity).</a:t>
                      </a:r>
                    </a:p>
                  </a:txBody>
                  <a:tcPr marL="47817" marR="47817" marT="23908" marB="23908" anchor="ctr">
                    <a:lnL>
                      <a:noFill/>
                    </a:lnL>
                    <a:lnR>
                      <a:noFill/>
                    </a:lnR>
                    <a:lnT>
                      <a:noFill/>
                    </a:lnT>
                    <a:lnB>
                      <a:noFill/>
                    </a:lnB>
                    <a:noFill/>
                  </a:tcPr>
                </a:tc>
                <a:tc>
                  <a:txBody>
                    <a:bodyPr/>
                    <a:lstStyle/>
                    <a:p>
                      <a:r>
                        <a:rPr lang="en-US" sz="1200" dirty="0"/>
                        <a:t>Sevoflurane/frontal alpha &amp; slow oscillations (characteristic volatile EEG). (</a:t>
                      </a:r>
                      <a:r>
                        <a:rPr lang="en-US" sz="1200" dirty="0">
                          <a:hlinkClick r:id="rId7" tooltip="Effects of Sevoflurane and Propofol on Frontal ..."/>
                        </a:rPr>
                        <a:t>PMC</a:t>
                      </a:r>
                      <a:r>
                        <a:rPr lang="en-US" sz="1200" dirty="0"/>
                        <a:t>) • </a:t>
                      </a:r>
                      <a:r>
                        <a:rPr lang="en-US" sz="1200" dirty="0" err="1"/>
                        <a:t>VitalDB</a:t>
                      </a:r>
                      <a:r>
                        <a:rPr lang="en-US" sz="1200" dirty="0"/>
                        <a:t> docs/track names for identifying volatile tracks. (</a:t>
                      </a:r>
                      <a:r>
                        <a:rPr lang="en-US" sz="1200" dirty="0">
                          <a:hlinkClick r:id="rId4" tooltip="VitalDB Overview - Docs"/>
                        </a:rPr>
                        <a:t>vitaldb.net</a:t>
                      </a:r>
                      <a:r>
                        <a:rPr lang="en-US" sz="1200" dirty="0"/>
                        <a:t>)</a:t>
                      </a:r>
                    </a:p>
                  </a:txBody>
                  <a:tcPr marL="47817" marR="47817" marT="23908" marB="23908" anchor="ctr">
                    <a:lnL>
                      <a:noFill/>
                    </a:lnL>
                    <a:lnR>
                      <a:noFill/>
                    </a:lnR>
                    <a:lnT>
                      <a:noFill/>
                    </a:lnT>
                    <a:lnB>
                      <a:noFill/>
                    </a:lnB>
                    <a:noFill/>
                  </a:tcPr>
                </a:tc>
                <a:extLst>
                  <a:ext uri="{0D108BD9-81ED-4DB2-BD59-A6C34878D82A}">
                    <a16:rowId xmlns:a16="http://schemas.microsoft.com/office/drawing/2014/main" val="1224284609"/>
                  </a:ext>
                </a:extLst>
              </a:tr>
              <a:tr h="1522030">
                <a:tc>
                  <a:txBody>
                    <a:bodyPr/>
                    <a:lstStyle/>
                    <a:p>
                      <a:r>
                        <a:rPr lang="en-US" sz="1200" b="1"/>
                        <a:t>C — TCI-only</a:t>
                      </a:r>
                      <a:endParaRPr lang="en-US" sz="1200"/>
                    </a:p>
                  </a:txBody>
                  <a:tcPr marL="47817" marR="47817" marT="23908" marB="23908" anchor="ctr">
                    <a:lnL>
                      <a:noFill/>
                    </a:lnL>
                    <a:lnR>
                      <a:noFill/>
                    </a:lnR>
                    <a:lnT>
                      <a:noFill/>
                    </a:lnT>
                    <a:lnB>
                      <a:noFill/>
                    </a:lnB>
                    <a:noFill/>
                  </a:tcPr>
                </a:tc>
                <a:tc>
                  <a:txBody>
                    <a:bodyPr/>
                    <a:lstStyle/>
                    <a:p>
                      <a:r>
                        <a:rPr lang="en-US" sz="1200"/>
                        <a:t>Adults with </a:t>
                      </a:r>
                      <a:r>
                        <a:rPr lang="en-US" sz="1200" b="1"/>
                        <a:t>TCI effect-site</a:t>
                      </a:r>
                      <a:r>
                        <a:rPr lang="en-US" sz="1200"/>
                        <a:t> tracks (e.g., </a:t>
                      </a:r>
                      <a:r>
                        <a:rPr lang="en-US" sz="1200" b="1"/>
                        <a:t>Orchestra/PPF20_CE</a:t>
                      </a:r>
                      <a:r>
                        <a:rPr lang="en-US" sz="1200"/>
                        <a:t>, </a:t>
                      </a:r>
                      <a:r>
                        <a:rPr lang="en-US" sz="1200" b="1"/>
                        <a:t>Orchestra/RFTN50_CE</a:t>
                      </a:r>
                      <a:r>
                        <a:rPr lang="en-US" sz="1200"/>
                        <a:t>) </a:t>
                      </a:r>
                      <a:r>
                        <a:rPr lang="en-US" sz="1200" b="1"/>
                        <a:t>and no volatile tracks</a:t>
                      </a:r>
                      <a:r>
                        <a:rPr lang="en-US" sz="1200"/>
                        <a:t>; exclude mixed.</a:t>
                      </a:r>
                    </a:p>
                  </a:txBody>
                  <a:tcPr marL="47817" marR="47817" marT="23908" marB="23908" anchor="ctr">
                    <a:lnL>
                      <a:noFill/>
                    </a:lnL>
                    <a:lnR>
                      <a:noFill/>
                    </a:lnR>
                    <a:lnT>
                      <a:noFill/>
                    </a:lnT>
                    <a:lnB>
                      <a:noFill/>
                    </a:lnB>
                    <a:noFill/>
                  </a:tcPr>
                </a:tc>
                <a:tc>
                  <a:txBody>
                    <a:bodyPr/>
                    <a:lstStyle/>
                    <a:p>
                      <a:r>
                        <a:rPr lang="en-US" sz="1200" dirty="0"/>
                        <a:t>Homogeneous propofol/remifentanil workflows; calibrates well for TCI rooms; report as a TCI-focused model (limited to that setting).</a:t>
                      </a:r>
                    </a:p>
                  </a:txBody>
                  <a:tcPr marL="47817" marR="47817" marT="23908" marB="23908" anchor="ctr">
                    <a:lnL>
                      <a:noFill/>
                    </a:lnL>
                    <a:lnR>
                      <a:noFill/>
                    </a:lnR>
                    <a:lnT>
                      <a:noFill/>
                    </a:lnT>
                    <a:lnB>
                      <a:noFill/>
                    </a:lnB>
                    <a:noFill/>
                  </a:tcPr>
                </a:tc>
                <a:tc>
                  <a:txBody>
                    <a:bodyPr/>
                    <a:lstStyle/>
                    <a:p>
                      <a:r>
                        <a:rPr lang="en-US" sz="1200" dirty="0"/>
                        <a:t>Propofol-specific EEG signatures during loss/return of consciousness (slow–alpha dynamics). (</a:t>
                      </a:r>
                      <a:r>
                        <a:rPr lang="en-US" sz="1200" dirty="0">
                          <a:hlinkClick r:id="rId8" tooltip="Electroencephalogram signatures of loss and recovery ..."/>
                        </a:rPr>
                        <a:t>PNAS</a:t>
                      </a:r>
                      <a:r>
                        <a:rPr lang="en-US" sz="1200" dirty="0"/>
                        <a:t>) • </a:t>
                      </a:r>
                      <a:r>
                        <a:rPr lang="en-US" sz="1200" dirty="0" err="1"/>
                        <a:t>VitalDB</a:t>
                      </a:r>
                      <a:r>
                        <a:rPr lang="en-US" sz="1200" dirty="0"/>
                        <a:t> docs/track names for identifying TCI Ce tracks. (</a:t>
                      </a:r>
                      <a:r>
                        <a:rPr lang="en-US" sz="1200" dirty="0">
                          <a:hlinkClick r:id="rId4" tooltip="VitalDB Overview - Docs"/>
                        </a:rPr>
                        <a:t>vitaldb.net</a:t>
                      </a:r>
                      <a:r>
                        <a:rPr lang="en-US" sz="1200" dirty="0"/>
                        <a:t>)</a:t>
                      </a:r>
                    </a:p>
                  </a:txBody>
                  <a:tcPr marL="47817" marR="47817" marT="23908" marB="23908" anchor="ctr">
                    <a:lnL>
                      <a:noFill/>
                    </a:lnL>
                    <a:lnR>
                      <a:noFill/>
                    </a:lnR>
                    <a:lnT>
                      <a:noFill/>
                    </a:lnT>
                    <a:lnB>
                      <a:noFill/>
                    </a:lnB>
                    <a:noFill/>
                  </a:tcPr>
                </a:tc>
                <a:extLst>
                  <a:ext uri="{0D108BD9-81ED-4DB2-BD59-A6C34878D82A}">
                    <a16:rowId xmlns:a16="http://schemas.microsoft.com/office/drawing/2014/main" val="2716756583"/>
                  </a:ext>
                </a:extLst>
              </a:tr>
            </a:tbl>
          </a:graphicData>
        </a:graphic>
      </p:graphicFrame>
    </p:spTree>
    <p:extLst>
      <p:ext uri="{BB962C8B-B14F-4D97-AF65-F5344CB8AC3E}">
        <p14:creationId xmlns:p14="http://schemas.microsoft.com/office/powerpoint/2010/main" val="789433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a:bodyPr>
          <a:lstStyle/>
          <a:p>
            <a:r>
              <a:rPr lang="en-US" sz="1800" dirty="0"/>
              <a:t>Experiment matrix</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5"/>
            <a:ext cx="11335871" cy="3361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400" dirty="0">
                <a:latin typeface="Consolas" panose="020B0609020204030204" pitchFamily="49" charset="0"/>
              </a:rPr>
              <a:t>Within-cohort performance (main):</a:t>
            </a:r>
            <a:br>
              <a:rPr lang="en-US" sz="1400" dirty="0">
                <a:latin typeface="Consolas" panose="020B0609020204030204" pitchFamily="49" charset="0"/>
              </a:rPr>
            </a:br>
            <a:r>
              <a:rPr lang="en-US" sz="1400" dirty="0">
                <a:latin typeface="Consolas" panose="020B0609020204030204" pitchFamily="49" charset="0"/>
              </a:rPr>
              <a:t>A-internal: Train A → Eval A (primary general model)</a:t>
            </a:r>
            <a:br>
              <a:rPr lang="en-US" sz="1400" dirty="0">
                <a:latin typeface="Consolas" panose="020B0609020204030204" pitchFamily="49" charset="0"/>
              </a:rPr>
            </a:br>
            <a:r>
              <a:rPr lang="en-US" sz="1400" dirty="0">
                <a:latin typeface="Consolas" panose="020B0609020204030204" pitchFamily="49" charset="0"/>
              </a:rPr>
              <a:t>B-internal: Train B → Eval B (volatile-specific)</a:t>
            </a:r>
            <a:br>
              <a:rPr lang="en-US" sz="1400" dirty="0">
                <a:latin typeface="Consolas" panose="020B0609020204030204" pitchFamily="49" charset="0"/>
              </a:rPr>
            </a:br>
            <a:r>
              <a:rPr lang="en-US" sz="1400" dirty="0">
                <a:latin typeface="Consolas" panose="020B0609020204030204" pitchFamily="49" charset="0"/>
              </a:rPr>
              <a:t>C-internal: Train C → Eval C (TCI-specific)</a:t>
            </a:r>
            <a:br>
              <a:rPr lang="en-US" sz="1400" dirty="0">
                <a:latin typeface="Consolas" panose="020B0609020204030204" pitchFamily="49" charset="0"/>
              </a:rPr>
            </a:br>
            <a:br>
              <a:rPr lang="en-US" sz="1400" dirty="0">
                <a:latin typeface="Consolas" panose="020B0609020204030204" pitchFamily="49" charset="0"/>
              </a:rPr>
            </a:br>
            <a:r>
              <a:rPr lang="en-US" sz="1400" dirty="0">
                <a:latin typeface="Consolas" panose="020B0609020204030204" pitchFamily="49" charset="0"/>
              </a:rPr>
              <a:t>Cross-cohort generalization (domain tests):</a:t>
            </a:r>
            <a:br>
              <a:rPr lang="en-US" sz="1400" dirty="0">
                <a:latin typeface="Consolas" panose="020B0609020204030204" pitchFamily="49" charset="0"/>
              </a:rPr>
            </a:br>
            <a:r>
              <a:rPr lang="en-US" sz="1400" dirty="0">
                <a:latin typeface="Consolas" panose="020B0609020204030204" pitchFamily="49" charset="0"/>
              </a:rPr>
              <a:t>Train A → Eval B and Eval C (does the general model hold up?)</a:t>
            </a:r>
            <a:br>
              <a:rPr lang="en-US" sz="1400" dirty="0">
                <a:latin typeface="Consolas" panose="020B0609020204030204" pitchFamily="49" charset="0"/>
              </a:rPr>
            </a:br>
            <a:r>
              <a:rPr lang="en-US" sz="1400" dirty="0">
                <a:latin typeface="Consolas" panose="020B0609020204030204" pitchFamily="49" charset="0"/>
              </a:rPr>
              <a:t>Train B → Eval C (volatile → TCI transfer)</a:t>
            </a:r>
            <a:br>
              <a:rPr lang="en-US" sz="1400" dirty="0">
                <a:latin typeface="Consolas" panose="020B0609020204030204" pitchFamily="49" charset="0"/>
              </a:rPr>
            </a:br>
            <a:r>
              <a:rPr lang="en-US" sz="1400" dirty="0">
                <a:latin typeface="Consolas" panose="020B0609020204030204" pitchFamily="49" charset="0"/>
              </a:rPr>
              <a:t>Train C → Eval B (TCI → volatile transfer</a:t>
            </a:r>
          </a:p>
        </p:txBody>
      </p:sp>
    </p:spTree>
    <p:extLst>
      <p:ext uri="{BB962C8B-B14F-4D97-AF65-F5344CB8AC3E}">
        <p14:creationId xmlns:p14="http://schemas.microsoft.com/office/powerpoint/2010/main" val="34137051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261C2C-9C98-D39E-AE6A-ACBE8E59C27D}"/>
              </a:ext>
            </a:extLst>
          </p:cNvPr>
          <p:cNvSpPr>
            <a:spLocks noGrp="1"/>
          </p:cNvSpPr>
          <p:nvPr>
            <p:ph type="title"/>
          </p:nvPr>
        </p:nvSpPr>
        <p:spPr>
          <a:xfrm>
            <a:off x="349623" y="176867"/>
            <a:ext cx="11631705" cy="562722"/>
          </a:xfrm>
          <a:custGeom>
            <a:avLst/>
            <a:gdLst>
              <a:gd name="connsiteX0" fmla="*/ 0 w 11631705"/>
              <a:gd name="connsiteY0" fmla="*/ 0 h 562722"/>
              <a:gd name="connsiteX1" fmla="*/ 814219 w 11631705"/>
              <a:gd name="connsiteY1" fmla="*/ 0 h 562722"/>
              <a:gd name="connsiteX2" fmla="*/ 1512122 w 11631705"/>
              <a:gd name="connsiteY2" fmla="*/ 0 h 562722"/>
              <a:gd name="connsiteX3" fmla="*/ 1744756 w 11631705"/>
              <a:gd name="connsiteY3" fmla="*/ 0 h 562722"/>
              <a:gd name="connsiteX4" fmla="*/ 2558975 w 11631705"/>
              <a:gd name="connsiteY4" fmla="*/ 0 h 562722"/>
              <a:gd name="connsiteX5" fmla="*/ 3024243 w 11631705"/>
              <a:gd name="connsiteY5" fmla="*/ 0 h 562722"/>
              <a:gd name="connsiteX6" fmla="*/ 3722146 w 11631705"/>
              <a:gd name="connsiteY6" fmla="*/ 0 h 562722"/>
              <a:gd name="connsiteX7" fmla="*/ 4303731 w 11631705"/>
              <a:gd name="connsiteY7" fmla="*/ 0 h 562722"/>
              <a:gd name="connsiteX8" fmla="*/ 4652682 w 11631705"/>
              <a:gd name="connsiteY8" fmla="*/ 0 h 562722"/>
              <a:gd name="connsiteX9" fmla="*/ 4885316 w 11631705"/>
              <a:gd name="connsiteY9" fmla="*/ 0 h 562722"/>
              <a:gd name="connsiteX10" fmla="*/ 5234267 w 11631705"/>
              <a:gd name="connsiteY10" fmla="*/ 0 h 562722"/>
              <a:gd name="connsiteX11" fmla="*/ 5932170 w 11631705"/>
              <a:gd name="connsiteY11" fmla="*/ 0 h 562722"/>
              <a:gd name="connsiteX12" fmla="*/ 6630072 w 11631705"/>
              <a:gd name="connsiteY12" fmla="*/ 0 h 562722"/>
              <a:gd name="connsiteX13" fmla="*/ 7095340 w 11631705"/>
              <a:gd name="connsiteY13" fmla="*/ 0 h 562722"/>
              <a:gd name="connsiteX14" fmla="*/ 7560608 w 11631705"/>
              <a:gd name="connsiteY14" fmla="*/ 0 h 562722"/>
              <a:gd name="connsiteX15" fmla="*/ 7909559 w 11631705"/>
              <a:gd name="connsiteY15" fmla="*/ 0 h 562722"/>
              <a:gd name="connsiteX16" fmla="*/ 8607462 w 11631705"/>
              <a:gd name="connsiteY16" fmla="*/ 0 h 562722"/>
              <a:gd name="connsiteX17" fmla="*/ 9189047 w 11631705"/>
              <a:gd name="connsiteY17" fmla="*/ 0 h 562722"/>
              <a:gd name="connsiteX18" fmla="*/ 9886949 w 11631705"/>
              <a:gd name="connsiteY18" fmla="*/ 0 h 562722"/>
              <a:gd name="connsiteX19" fmla="*/ 10352217 w 11631705"/>
              <a:gd name="connsiteY19" fmla="*/ 0 h 562722"/>
              <a:gd name="connsiteX20" fmla="*/ 10933803 w 11631705"/>
              <a:gd name="connsiteY20" fmla="*/ 0 h 562722"/>
              <a:gd name="connsiteX21" fmla="*/ 11631705 w 11631705"/>
              <a:gd name="connsiteY21" fmla="*/ 0 h 562722"/>
              <a:gd name="connsiteX22" fmla="*/ 11631705 w 11631705"/>
              <a:gd name="connsiteY22" fmla="*/ 562722 h 562722"/>
              <a:gd name="connsiteX23" fmla="*/ 11399071 w 11631705"/>
              <a:gd name="connsiteY23" fmla="*/ 562722 h 562722"/>
              <a:gd name="connsiteX24" fmla="*/ 11050120 w 11631705"/>
              <a:gd name="connsiteY24" fmla="*/ 562722 h 562722"/>
              <a:gd name="connsiteX25" fmla="*/ 10352217 w 11631705"/>
              <a:gd name="connsiteY25" fmla="*/ 562722 h 562722"/>
              <a:gd name="connsiteX26" fmla="*/ 10119583 w 11631705"/>
              <a:gd name="connsiteY26" fmla="*/ 562722 h 562722"/>
              <a:gd name="connsiteX27" fmla="*/ 9421681 w 11631705"/>
              <a:gd name="connsiteY27" fmla="*/ 562722 h 562722"/>
              <a:gd name="connsiteX28" fmla="*/ 9189047 w 11631705"/>
              <a:gd name="connsiteY28" fmla="*/ 562722 h 562722"/>
              <a:gd name="connsiteX29" fmla="*/ 8840096 w 11631705"/>
              <a:gd name="connsiteY29" fmla="*/ 562722 h 562722"/>
              <a:gd name="connsiteX30" fmla="*/ 8374828 w 11631705"/>
              <a:gd name="connsiteY30" fmla="*/ 562722 h 562722"/>
              <a:gd name="connsiteX31" fmla="*/ 7560608 w 11631705"/>
              <a:gd name="connsiteY31" fmla="*/ 562722 h 562722"/>
              <a:gd name="connsiteX32" fmla="*/ 7327974 w 11631705"/>
              <a:gd name="connsiteY32" fmla="*/ 562722 h 562722"/>
              <a:gd name="connsiteX33" fmla="*/ 6513755 w 11631705"/>
              <a:gd name="connsiteY33" fmla="*/ 562722 h 562722"/>
              <a:gd name="connsiteX34" fmla="*/ 6281121 w 11631705"/>
              <a:gd name="connsiteY34" fmla="*/ 562722 h 562722"/>
              <a:gd name="connsiteX35" fmla="*/ 5932170 w 11631705"/>
              <a:gd name="connsiteY35" fmla="*/ 562722 h 562722"/>
              <a:gd name="connsiteX36" fmla="*/ 5583218 w 11631705"/>
              <a:gd name="connsiteY36" fmla="*/ 562722 h 562722"/>
              <a:gd name="connsiteX37" fmla="*/ 5350584 w 11631705"/>
              <a:gd name="connsiteY37" fmla="*/ 562722 h 562722"/>
              <a:gd name="connsiteX38" fmla="*/ 5001633 w 11631705"/>
              <a:gd name="connsiteY38" fmla="*/ 562722 h 562722"/>
              <a:gd name="connsiteX39" fmla="*/ 4187414 w 11631705"/>
              <a:gd name="connsiteY39" fmla="*/ 562722 h 562722"/>
              <a:gd name="connsiteX40" fmla="*/ 3954780 w 11631705"/>
              <a:gd name="connsiteY40" fmla="*/ 562722 h 562722"/>
              <a:gd name="connsiteX41" fmla="*/ 3489511 w 11631705"/>
              <a:gd name="connsiteY41" fmla="*/ 562722 h 562722"/>
              <a:gd name="connsiteX42" fmla="*/ 3140560 w 11631705"/>
              <a:gd name="connsiteY42" fmla="*/ 562722 h 562722"/>
              <a:gd name="connsiteX43" fmla="*/ 2442658 w 11631705"/>
              <a:gd name="connsiteY43" fmla="*/ 562722 h 562722"/>
              <a:gd name="connsiteX44" fmla="*/ 1628439 w 11631705"/>
              <a:gd name="connsiteY44" fmla="*/ 562722 h 562722"/>
              <a:gd name="connsiteX45" fmla="*/ 1279488 w 11631705"/>
              <a:gd name="connsiteY45" fmla="*/ 562722 h 562722"/>
              <a:gd name="connsiteX46" fmla="*/ 930536 w 11631705"/>
              <a:gd name="connsiteY46" fmla="*/ 562722 h 562722"/>
              <a:gd name="connsiteX47" fmla="*/ 0 w 11631705"/>
              <a:gd name="connsiteY47" fmla="*/ 562722 h 562722"/>
              <a:gd name="connsiteX48" fmla="*/ 0 w 11631705"/>
              <a:gd name="connsiteY48" fmla="*/ 0 h 56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1705" h="562722" fill="none" extrusionOk="0">
                <a:moveTo>
                  <a:pt x="0" y="0"/>
                </a:moveTo>
                <a:cubicBezTo>
                  <a:pt x="342086" y="-4203"/>
                  <a:pt x="635873" y="37113"/>
                  <a:pt x="814219" y="0"/>
                </a:cubicBezTo>
                <a:cubicBezTo>
                  <a:pt x="992565" y="-37113"/>
                  <a:pt x="1359352" y="64161"/>
                  <a:pt x="1512122" y="0"/>
                </a:cubicBezTo>
                <a:cubicBezTo>
                  <a:pt x="1664892" y="-64161"/>
                  <a:pt x="1630497" y="21483"/>
                  <a:pt x="1744756" y="0"/>
                </a:cubicBezTo>
                <a:cubicBezTo>
                  <a:pt x="1859015" y="-21483"/>
                  <a:pt x="2318765" y="62723"/>
                  <a:pt x="2558975" y="0"/>
                </a:cubicBezTo>
                <a:cubicBezTo>
                  <a:pt x="2799185" y="-62723"/>
                  <a:pt x="2898620" y="16032"/>
                  <a:pt x="3024243" y="0"/>
                </a:cubicBezTo>
                <a:cubicBezTo>
                  <a:pt x="3149866" y="-16032"/>
                  <a:pt x="3533187" y="13931"/>
                  <a:pt x="3722146" y="0"/>
                </a:cubicBezTo>
                <a:cubicBezTo>
                  <a:pt x="3911105" y="-13931"/>
                  <a:pt x="4038964" y="4992"/>
                  <a:pt x="4303731" y="0"/>
                </a:cubicBezTo>
                <a:cubicBezTo>
                  <a:pt x="4568499" y="-4992"/>
                  <a:pt x="4576577" y="39544"/>
                  <a:pt x="4652682" y="0"/>
                </a:cubicBezTo>
                <a:cubicBezTo>
                  <a:pt x="4728787" y="-39544"/>
                  <a:pt x="4819107" y="4404"/>
                  <a:pt x="4885316" y="0"/>
                </a:cubicBezTo>
                <a:cubicBezTo>
                  <a:pt x="4951525" y="-4404"/>
                  <a:pt x="5137175" y="18197"/>
                  <a:pt x="5234267" y="0"/>
                </a:cubicBezTo>
                <a:cubicBezTo>
                  <a:pt x="5331359" y="-18197"/>
                  <a:pt x="5783641" y="25792"/>
                  <a:pt x="5932170" y="0"/>
                </a:cubicBezTo>
                <a:cubicBezTo>
                  <a:pt x="6080699" y="-25792"/>
                  <a:pt x="6333854" y="31411"/>
                  <a:pt x="6630072" y="0"/>
                </a:cubicBezTo>
                <a:cubicBezTo>
                  <a:pt x="6926290" y="-31411"/>
                  <a:pt x="6886189" y="32544"/>
                  <a:pt x="7095340" y="0"/>
                </a:cubicBezTo>
                <a:cubicBezTo>
                  <a:pt x="7304491" y="-32544"/>
                  <a:pt x="7357842" y="47968"/>
                  <a:pt x="7560608" y="0"/>
                </a:cubicBezTo>
                <a:cubicBezTo>
                  <a:pt x="7763374" y="-47968"/>
                  <a:pt x="7748562" y="23196"/>
                  <a:pt x="7909559" y="0"/>
                </a:cubicBezTo>
                <a:cubicBezTo>
                  <a:pt x="8070556" y="-23196"/>
                  <a:pt x="8310833" y="79200"/>
                  <a:pt x="8607462" y="0"/>
                </a:cubicBezTo>
                <a:cubicBezTo>
                  <a:pt x="8904091" y="-79200"/>
                  <a:pt x="8957160" y="68528"/>
                  <a:pt x="9189047" y="0"/>
                </a:cubicBezTo>
                <a:cubicBezTo>
                  <a:pt x="9420934" y="-68528"/>
                  <a:pt x="9666297" y="64375"/>
                  <a:pt x="9886949" y="0"/>
                </a:cubicBezTo>
                <a:cubicBezTo>
                  <a:pt x="10107601" y="-64375"/>
                  <a:pt x="10218665" y="11784"/>
                  <a:pt x="10352217" y="0"/>
                </a:cubicBezTo>
                <a:cubicBezTo>
                  <a:pt x="10485769" y="-11784"/>
                  <a:pt x="10796603" y="62475"/>
                  <a:pt x="10933803" y="0"/>
                </a:cubicBezTo>
                <a:cubicBezTo>
                  <a:pt x="11071003" y="-62475"/>
                  <a:pt x="11325132" y="27561"/>
                  <a:pt x="11631705" y="0"/>
                </a:cubicBezTo>
                <a:cubicBezTo>
                  <a:pt x="11663920" y="145010"/>
                  <a:pt x="11587264" y="386516"/>
                  <a:pt x="11631705" y="562722"/>
                </a:cubicBezTo>
                <a:cubicBezTo>
                  <a:pt x="11569325" y="571870"/>
                  <a:pt x="11472062" y="535634"/>
                  <a:pt x="11399071" y="562722"/>
                </a:cubicBezTo>
                <a:cubicBezTo>
                  <a:pt x="11326080" y="589810"/>
                  <a:pt x="11223782" y="543724"/>
                  <a:pt x="11050120" y="562722"/>
                </a:cubicBezTo>
                <a:cubicBezTo>
                  <a:pt x="10876458" y="581720"/>
                  <a:pt x="10642248" y="540076"/>
                  <a:pt x="10352217" y="562722"/>
                </a:cubicBezTo>
                <a:cubicBezTo>
                  <a:pt x="10062186" y="585368"/>
                  <a:pt x="10232427" y="557940"/>
                  <a:pt x="10119583" y="562722"/>
                </a:cubicBezTo>
                <a:cubicBezTo>
                  <a:pt x="10006739" y="567504"/>
                  <a:pt x="9601099" y="536111"/>
                  <a:pt x="9421681" y="562722"/>
                </a:cubicBezTo>
                <a:cubicBezTo>
                  <a:pt x="9242263" y="589333"/>
                  <a:pt x="9237267" y="545215"/>
                  <a:pt x="9189047" y="562722"/>
                </a:cubicBezTo>
                <a:cubicBezTo>
                  <a:pt x="9140827" y="580229"/>
                  <a:pt x="8962077" y="524613"/>
                  <a:pt x="8840096" y="562722"/>
                </a:cubicBezTo>
                <a:cubicBezTo>
                  <a:pt x="8718115" y="600831"/>
                  <a:pt x="8571101" y="508174"/>
                  <a:pt x="8374828" y="562722"/>
                </a:cubicBezTo>
                <a:cubicBezTo>
                  <a:pt x="8178555" y="617270"/>
                  <a:pt x="7950108" y="507197"/>
                  <a:pt x="7560608" y="562722"/>
                </a:cubicBezTo>
                <a:cubicBezTo>
                  <a:pt x="7171108" y="618247"/>
                  <a:pt x="7389852" y="546843"/>
                  <a:pt x="7327974" y="562722"/>
                </a:cubicBezTo>
                <a:cubicBezTo>
                  <a:pt x="7266096" y="578601"/>
                  <a:pt x="6689702" y="489209"/>
                  <a:pt x="6513755" y="562722"/>
                </a:cubicBezTo>
                <a:cubicBezTo>
                  <a:pt x="6337808" y="636235"/>
                  <a:pt x="6337700" y="560835"/>
                  <a:pt x="6281121" y="562722"/>
                </a:cubicBezTo>
                <a:cubicBezTo>
                  <a:pt x="6224542" y="564609"/>
                  <a:pt x="6008924" y="553383"/>
                  <a:pt x="5932170" y="562722"/>
                </a:cubicBezTo>
                <a:cubicBezTo>
                  <a:pt x="5855416" y="572061"/>
                  <a:pt x="5674889" y="558977"/>
                  <a:pt x="5583218" y="562722"/>
                </a:cubicBezTo>
                <a:cubicBezTo>
                  <a:pt x="5491547" y="566467"/>
                  <a:pt x="5409706" y="542834"/>
                  <a:pt x="5350584" y="562722"/>
                </a:cubicBezTo>
                <a:cubicBezTo>
                  <a:pt x="5291462" y="582610"/>
                  <a:pt x="5145485" y="554054"/>
                  <a:pt x="5001633" y="562722"/>
                </a:cubicBezTo>
                <a:cubicBezTo>
                  <a:pt x="4857781" y="571390"/>
                  <a:pt x="4543111" y="524575"/>
                  <a:pt x="4187414" y="562722"/>
                </a:cubicBezTo>
                <a:cubicBezTo>
                  <a:pt x="3831717" y="600869"/>
                  <a:pt x="4033408" y="546040"/>
                  <a:pt x="3954780" y="562722"/>
                </a:cubicBezTo>
                <a:cubicBezTo>
                  <a:pt x="3876152" y="579404"/>
                  <a:pt x="3680730" y="527035"/>
                  <a:pt x="3489511" y="562722"/>
                </a:cubicBezTo>
                <a:cubicBezTo>
                  <a:pt x="3298292" y="598409"/>
                  <a:pt x="3255155" y="556533"/>
                  <a:pt x="3140560" y="562722"/>
                </a:cubicBezTo>
                <a:cubicBezTo>
                  <a:pt x="3025965" y="568911"/>
                  <a:pt x="2625160" y="528749"/>
                  <a:pt x="2442658" y="562722"/>
                </a:cubicBezTo>
                <a:cubicBezTo>
                  <a:pt x="2260156" y="596695"/>
                  <a:pt x="1805475" y="560183"/>
                  <a:pt x="1628439" y="562722"/>
                </a:cubicBezTo>
                <a:cubicBezTo>
                  <a:pt x="1451403" y="565261"/>
                  <a:pt x="1395182" y="557052"/>
                  <a:pt x="1279488" y="562722"/>
                </a:cubicBezTo>
                <a:cubicBezTo>
                  <a:pt x="1163794" y="568392"/>
                  <a:pt x="1022253" y="532207"/>
                  <a:pt x="930536" y="562722"/>
                </a:cubicBezTo>
                <a:cubicBezTo>
                  <a:pt x="838819" y="593237"/>
                  <a:pt x="378118" y="529087"/>
                  <a:pt x="0" y="562722"/>
                </a:cubicBezTo>
                <a:cubicBezTo>
                  <a:pt x="-27815" y="424413"/>
                  <a:pt x="60016" y="214859"/>
                  <a:pt x="0" y="0"/>
                </a:cubicBezTo>
                <a:close/>
              </a:path>
              <a:path w="11631705" h="562722" stroke="0" extrusionOk="0">
                <a:moveTo>
                  <a:pt x="0" y="0"/>
                </a:moveTo>
                <a:cubicBezTo>
                  <a:pt x="338202" y="-29655"/>
                  <a:pt x="424489" y="71660"/>
                  <a:pt x="697902" y="0"/>
                </a:cubicBezTo>
                <a:cubicBezTo>
                  <a:pt x="971315" y="-71660"/>
                  <a:pt x="1121283" y="19139"/>
                  <a:pt x="1279488" y="0"/>
                </a:cubicBezTo>
                <a:cubicBezTo>
                  <a:pt x="1437693" y="-19139"/>
                  <a:pt x="1646587" y="16322"/>
                  <a:pt x="1744756" y="0"/>
                </a:cubicBezTo>
                <a:cubicBezTo>
                  <a:pt x="1842925" y="-16322"/>
                  <a:pt x="2137065" y="3873"/>
                  <a:pt x="2326341" y="0"/>
                </a:cubicBezTo>
                <a:cubicBezTo>
                  <a:pt x="2515617" y="-3873"/>
                  <a:pt x="2803685" y="60828"/>
                  <a:pt x="3140560" y="0"/>
                </a:cubicBezTo>
                <a:cubicBezTo>
                  <a:pt x="3477435" y="-60828"/>
                  <a:pt x="3311138" y="12384"/>
                  <a:pt x="3373194" y="0"/>
                </a:cubicBezTo>
                <a:cubicBezTo>
                  <a:pt x="3435250" y="-12384"/>
                  <a:pt x="3727080" y="8383"/>
                  <a:pt x="3954780" y="0"/>
                </a:cubicBezTo>
                <a:cubicBezTo>
                  <a:pt x="4182480" y="-8383"/>
                  <a:pt x="4435585" y="25819"/>
                  <a:pt x="4652682" y="0"/>
                </a:cubicBezTo>
                <a:cubicBezTo>
                  <a:pt x="4869779" y="-25819"/>
                  <a:pt x="5074668" y="74900"/>
                  <a:pt x="5350584" y="0"/>
                </a:cubicBezTo>
                <a:cubicBezTo>
                  <a:pt x="5626500" y="-74900"/>
                  <a:pt x="5598124" y="5771"/>
                  <a:pt x="5699535" y="0"/>
                </a:cubicBezTo>
                <a:cubicBezTo>
                  <a:pt x="5800946" y="-5771"/>
                  <a:pt x="6041455" y="47045"/>
                  <a:pt x="6164804" y="0"/>
                </a:cubicBezTo>
                <a:cubicBezTo>
                  <a:pt x="6288153" y="-47045"/>
                  <a:pt x="6503880" y="46486"/>
                  <a:pt x="6630072" y="0"/>
                </a:cubicBezTo>
                <a:cubicBezTo>
                  <a:pt x="6756264" y="-46486"/>
                  <a:pt x="7112026" y="87394"/>
                  <a:pt x="7444291" y="0"/>
                </a:cubicBezTo>
                <a:cubicBezTo>
                  <a:pt x="7776556" y="-87394"/>
                  <a:pt x="7889068" y="86771"/>
                  <a:pt x="8258511" y="0"/>
                </a:cubicBezTo>
                <a:cubicBezTo>
                  <a:pt x="8627954" y="-86771"/>
                  <a:pt x="8616548" y="18707"/>
                  <a:pt x="8840096" y="0"/>
                </a:cubicBezTo>
                <a:cubicBezTo>
                  <a:pt x="9063645" y="-18707"/>
                  <a:pt x="9027221" y="8966"/>
                  <a:pt x="9189047" y="0"/>
                </a:cubicBezTo>
                <a:cubicBezTo>
                  <a:pt x="9350873" y="-8966"/>
                  <a:pt x="9543691" y="48744"/>
                  <a:pt x="9654315" y="0"/>
                </a:cubicBezTo>
                <a:cubicBezTo>
                  <a:pt x="9764939" y="-48744"/>
                  <a:pt x="10241859" y="54062"/>
                  <a:pt x="10468535" y="0"/>
                </a:cubicBezTo>
                <a:cubicBezTo>
                  <a:pt x="10695211" y="-54062"/>
                  <a:pt x="10650490" y="24969"/>
                  <a:pt x="10701169" y="0"/>
                </a:cubicBezTo>
                <a:cubicBezTo>
                  <a:pt x="10751848" y="-24969"/>
                  <a:pt x="11232226" y="62824"/>
                  <a:pt x="11631705" y="0"/>
                </a:cubicBezTo>
                <a:cubicBezTo>
                  <a:pt x="11686475" y="234546"/>
                  <a:pt x="11604709" y="350213"/>
                  <a:pt x="11631705" y="562722"/>
                </a:cubicBezTo>
                <a:cubicBezTo>
                  <a:pt x="11358296" y="583339"/>
                  <a:pt x="11276373" y="557530"/>
                  <a:pt x="11050120" y="562722"/>
                </a:cubicBezTo>
                <a:cubicBezTo>
                  <a:pt x="10823867" y="567914"/>
                  <a:pt x="10690308" y="544323"/>
                  <a:pt x="10584852" y="562722"/>
                </a:cubicBezTo>
                <a:cubicBezTo>
                  <a:pt x="10479396" y="581121"/>
                  <a:pt x="10404317" y="546023"/>
                  <a:pt x="10352217" y="562722"/>
                </a:cubicBezTo>
                <a:cubicBezTo>
                  <a:pt x="10300117" y="579421"/>
                  <a:pt x="10212429" y="550718"/>
                  <a:pt x="10119583" y="562722"/>
                </a:cubicBezTo>
                <a:cubicBezTo>
                  <a:pt x="10026737" y="574726"/>
                  <a:pt x="9529237" y="542895"/>
                  <a:pt x="9305364" y="562722"/>
                </a:cubicBezTo>
                <a:cubicBezTo>
                  <a:pt x="9081491" y="582549"/>
                  <a:pt x="8661810" y="560654"/>
                  <a:pt x="8491145" y="562722"/>
                </a:cubicBezTo>
                <a:cubicBezTo>
                  <a:pt x="8320480" y="564790"/>
                  <a:pt x="8001633" y="494824"/>
                  <a:pt x="7793242" y="562722"/>
                </a:cubicBezTo>
                <a:cubicBezTo>
                  <a:pt x="7584851" y="630620"/>
                  <a:pt x="7608390" y="541385"/>
                  <a:pt x="7560608" y="562722"/>
                </a:cubicBezTo>
                <a:cubicBezTo>
                  <a:pt x="7512826" y="584059"/>
                  <a:pt x="7289647" y="529517"/>
                  <a:pt x="7095340" y="562722"/>
                </a:cubicBezTo>
                <a:cubicBezTo>
                  <a:pt x="6901033" y="595927"/>
                  <a:pt x="6776430" y="517473"/>
                  <a:pt x="6513755" y="562722"/>
                </a:cubicBezTo>
                <a:cubicBezTo>
                  <a:pt x="6251080" y="607971"/>
                  <a:pt x="6297329" y="529201"/>
                  <a:pt x="6164804" y="562722"/>
                </a:cubicBezTo>
                <a:cubicBezTo>
                  <a:pt x="6032279" y="596243"/>
                  <a:pt x="6035883" y="541658"/>
                  <a:pt x="5932170" y="562722"/>
                </a:cubicBezTo>
                <a:cubicBezTo>
                  <a:pt x="5828457" y="583786"/>
                  <a:pt x="5623134" y="532756"/>
                  <a:pt x="5466901" y="562722"/>
                </a:cubicBezTo>
                <a:cubicBezTo>
                  <a:pt x="5310668" y="592688"/>
                  <a:pt x="5047476" y="516204"/>
                  <a:pt x="4652682" y="562722"/>
                </a:cubicBezTo>
                <a:cubicBezTo>
                  <a:pt x="4257888" y="609240"/>
                  <a:pt x="4313069" y="519984"/>
                  <a:pt x="4187414" y="562722"/>
                </a:cubicBezTo>
                <a:cubicBezTo>
                  <a:pt x="4061759" y="605460"/>
                  <a:pt x="3908481" y="522443"/>
                  <a:pt x="3838463" y="562722"/>
                </a:cubicBezTo>
                <a:cubicBezTo>
                  <a:pt x="3768445" y="603001"/>
                  <a:pt x="3293006" y="492541"/>
                  <a:pt x="3024243" y="562722"/>
                </a:cubicBezTo>
                <a:cubicBezTo>
                  <a:pt x="2755480" y="632903"/>
                  <a:pt x="2771667" y="533216"/>
                  <a:pt x="2558975" y="562722"/>
                </a:cubicBezTo>
                <a:cubicBezTo>
                  <a:pt x="2346283" y="592228"/>
                  <a:pt x="2133414" y="506629"/>
                  <a:pt x="1861073" y="562722"/>
                </a:cubicBezTo>
                <a:cubicBezTo>
                  <a:pt x="1588732" y="618815"/>
                  <a:pt x="1742583" y="556831"/>
                  <a:pt x="1628439" y="562722"/>
                </a:cubicBezTo>
                <a:cubicBezTo>
                  <a:pt x="1514295" y="568613"/>
                  <a:pt x="1277439" y="558871"/>
                  <a:pt x="1163170" y="562722"/>
                </a:cubicBezTo>
                <a:cubicBezTo>
                  <a:pt x="1048901" y="566573"/>
                  <a:pt x="501807" y="521316"/>
                  <a:pt x="0" y="562722"/>
                </a:cubicBezTo>
                <a:cubicBezTo>
                  <a:pt x="-39413" y="439973"/>
                  <a:pt x="10327" y="234944"/>
                  <a:pt x="0" y="0"/>
                </a:cubicBezTo>
                <a:close/>
              </a:path>
            </a:pathLst>
          </a:custGeom>
          <a:ln>
            <a:solidFill>
              <a:schemeClr val="tx2">
                <a:lumMod val="75000"/>
                <a:lumOff val="25000"/>
              </a:schemeClr>
            </a:solidFill>
            <a:extLst>
              <a:ext uri="{C807C97D-BFC1-408E-A445-0C87EB9F89A2}">
                <ask:lineSketchStyleProps xmlns:ask="http://schemas.microsoft.com/office/drawing/2018/sketchyshapes" sd="298134395">
                  <ask:type>
                    <ask:lineSketchScribble/>
                  </ask:type>
                </ask:lineSketchStyleProps>
              </a:ext>
            </a:extLst>
          </a:ln>
        </p:spPr>
        <p:txBody>
          <a:bodyPr>
            <a:normAutofit fontScale="90000"/>
          </a:bodyPr>
          <a:lstStyle/>
          <a:p>
            <a:r>
              <a:rPr lang="en-US" sz="1800" dirty="0"/>
              <a:t>The </a:t>
            </a:r>
            <a:r>
              <a:rPr lang="en-US" sz="3600" dirty="0"/>
              <a:t>BIG</a:t>
            </a:r>
            <a:r>
              <a:rPr lang="en-US" sz="1800" dirty="0"/>
              <a:t> Why?</a:t>
            </a:r>
          </a:p>
        </p:txBody>
      </p:sp>
      <p:sp>
        <p:nvSpPr>
          <p:cNvPr id="3" name="Subtitle 2">
            <a:extLst>
              <a:ext uri="{FF2B5EF4-FFF2-40B4-BE49-F238E27FC236}">
                <a16:creationId xmlns:a16="http://schemas.microsoft.com/office/drawing/2014/main" id="{0A064B69-4809-FDFA-9F39-7E6DCECD6B29}"/>
              </a:ext>
            </a:extLst>
          </p:cNvPr>
          <p:cNvSpPr txBox="1">
            <a:spLocks/>
          </p:cNvSpPr>
          <p:nvPr/>
        </p:nvSpPr>
        <p:spPr>
          <a:xfrm>
            <a:off x="349622" y="981635"/>
            <a:ext cx="11335871" cy="3361766"/>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buNone/>
            </a:pPr>
            <a:r>
              <a:rPr lang="en-US" sz="1400" dirty="0">
                <a:latin typeface="Consolas" panose="020B0609020204030204" pitchFamily="49" charset="0"/>
              </a:rPr>
              <a:t>Can one model cover both modalities?</a:t>
            </a:r>
            <a:br>
              <a:rPr lang="en-US" sz="1400" dirty="0">
                <a:latin typeface="Consolas" panose="020B0609020204030204" pitchFamily="49" charset="0"/>
              </a:rPr>
            </a:br>
            <a:r>
              <a:rPr lang="en-US" sz="1400" dirty="0">
                <a:latin typeface="Consolas" panose="020B0609020204030204" pitchFamily="49" charset="0"/>
              </a:rPr>
              <a:t>If not, where does it fail (volatile or TCI)?</a:t>
            </a:r>
            <a:br>
              <a:rPr lang="en-US" sz="1400" dirty="0">
                <a:latin typeface="Consolas" panose="020B0609020204030204" pitchFamily="49" charset="0"/>
              </a:rPr>
            </a:br>
            <a:r>
              <a:rPr lang="en-US" sz="1400" dirty="0">
                <a:latin typeface="Consolas" panose="020B0609020204030204" pitchFamily="49" charset="0"/>
              </a:rPr>
              <a:t>Do we need separate models or adaptation for deployment?</a:t>
            </a:r>
          </a:p>
        </p:txBody>
      </p:sp>
    </p:spTree>
    <p:extLst>
      <p:ext uri="{BB962C8B-B14F-4D97-AF65-F5344CB8AC3E}">
        <p14:creationId xmlns:p14="http://schemas.microsoft.com/office/powerpoint/2010/main" val="37268786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1328</Words>
  <Application>Microsoft Office PowerPoint</Application>
  <PresentationFormat>Widescreen</PresentationFormat>
  <Paragraphs>43</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Consolas</vt:lpstr>
      <vt:lpstr>Office Theme</vt:lpstr>
      <vt:lpstr>BIS Regression  and  Classification</vt:lpstr>
      <vt:lpstr>Experiment Setup</vt:lpstr>
      <vt:lpstr>Data Set Preparing</vt:lpstr>
      <vt:lpstr>Data Set Preparing: A</vt:lpstr>
      <vt:lpstr>Data Set Preparing: B</vt:lpstr>
      <vt:lpstr>Data Set Preparing: C</vt:lpstr>
      <vt:lpstr>Cohort: What and Why Reference</vt:lpstr>
      <vt:lpstr>Experiment matrix</vt:lpstr>
      <vt:lpstr>The BIG Why?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Rafsan Jany</dc:creator>
  <cp:lastModifiedBy>Rafsan Jany</cp:lastModifiedBy>
  <cp:revision>3</cp:revision>
  <dcterms:created xsi:type="dcterms:W3CDTF">2025-07-04T01:25:04Z</dcterms:created>
  <dcterms:modified xsi:type="dcterms:W3CDTF">2025-09-04T09:32:20Z</dcterms:modified>
</cp:coreProperties>
</file>